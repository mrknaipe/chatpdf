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688638" cy="151241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48" y="-5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320040"/>
            <a:ext cx="10049256" cy="14484096"/>
          </a:xfrm>
          <a:prstGeom prst="rect">
            <a:avLst/>
          </a:prstGeom>
          <a:noFill/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0049256" cy="1417320"/>
          </a:xfrm>
          <a:prstGeom prst="rect">
            <a:avLst/>
          </a:prstGeom>
          <a:noFill/>
          <a:ln w="1270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525780"/>
            <a:ext cx="1005840" cy="1005840"/>
          </a:xfrm>
          <a:prstGeom prst="rect">
            <a:avLst/>
          </a:prstGeom>
          <a:solidFill>
            <a:srgbClr val="005C3A"/>
          </a:solidFill>
          <a:ln w="9525">
            <a:solidFill>
              <a:srgbClr val="005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525780"/>
            <a:ext cx="1005840" cy="10058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3200" b="1" i="0" dirty="0">
                <a:solidFill>
                  <a:srgbClr val="FFFFFF"/>
                </a:solidFill>
                <a:latin typeface="Calibri"/>
              </a:rPr>
              <a:t>ESME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2708"/>
            <a:ext cx="1005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ENGINEERING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3192"/>
            <a:ext cx="8311896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1A1A1A"/>
                </a:solidFill>
                <a:latin typeface="Calibri"/>
              </a:rPr>
              <a:t>ChatPDF</a:t>
            </a:r>
            <a:r>
              <a:rPr sz="2200" b="1" i="0" dirty="0">
                <a:solidFill>
                  <a:srgbClr val="1A1A1A"/>
                </a:solidFill>
                <a:latin typeface="Calibri"/>
              </a:rPr>
              <a:t>-RAG : pipeline local de question-</a:t>
            </a:r>
            <a:r>
              <a:rPr sz="2200" b="1" i="0" dirty="0" err="1">
                <a:solidFill>
                  <a:srgbClr val="1A1A1A"/>
                </a:solidFill>
                <a:latin typeface="Calibri"/>
              </a:rPr>
              <a:t>réponse</a:t>
            </a:r>
            <a:endParaRPr sz="2200" b="1" i="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2200" b="1" i="0" dirty="0">
                <a:solidFill>
                  <a:srgbClr val="1A1A1A"/>
                </a:solidFill>
                <a:latin typeface="Calibri"/>
              </a:rPr>
              <a:t>sur documents PDF avec </a:t>
            </a:r>
            <a:r>
              <a:rPr sz="2200" b="1" i="0" dirty="0" err="1">
                <a:solidFill>
                  <a:srgbClr val="1A1A1A"/>
                </a:solidFill>
                <a:latin typeface="Calibri"/>
              </a:rPr>
              <a:t>analyse</a:t>
            </a:r>
            <a:r>
              <a:rPr sz="2200" b="1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2200" b="1" i="0" dirty="0" err="1">
                <a:solidFill>
                  <a:srgbClr val="1A1A1A"/>
                </a:solidFill>
                <a:latin typeface="Calibri"/>
              </a:rPr>
              <a:t>multimodale</a:t>
            </a:r>
            <a:endParaRPr sz="2200" b="1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1143000"/>
            <a:ext cx="8311896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KNIPE Arthur¹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399032"/>
            <a:ext cx="8311896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¹ ESME Sudria, Paris, France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74520"/>
            <a:ext cx="4864608" cy="411480"/>
          </a:xfrm>
          <a:prstGeom prst="rect">
            <a:avLst/>
          </a:prstGeom>
          <a:solidFill>
            <a:srgbClr val="E8ECEF"/>
          </a:solidFill>
          <a:ln w="9525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874520"/>
            <a:ext cx="4864608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Calibri"/>
              </a:rPr>
              <a:t>Contexte historique et technique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286000"/>
            <a:ext cx="4864608" cy="3154680"/>
          </a:xfrm>
          <a:prstGeom prst="rect">
            <a:avLst/>
          </a:prstGeom>
          <a:noFill/>
          <a:ln w="9525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4773168" cy="30632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Depuis l'émergence des Large Language Models (LLM), la question de leur fiabilité documentaire est centrale : interrogés hors de leur corpus d'entraînement, ils produisent des hallucinations factuelles.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Le paradigme Retrieval-Augmented Generation (RAG), introduit par Lewis et al. (2020) [1], a redéfini la Q&amp;A sur documents en couplant un LLM génératif à un index sémantique externe.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A1A1A"/>
                </a:solidFill>
                <a:latin typeface="Calibri"/>
              </a:rPr>
              <a:t>Les enjeux actuels du RAG en production sont triples :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Confidentialité — exécution locale vs cloud propriétaire.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Robustesse — qualité de récupération, contexte long.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Multimodalité — schémas, tableaux et figures PDF.</a:t>
            </a:r>
          </a:p>
          <a:p>
            <a:pPr algn="l"/>
            <a:r>
              <a:rPr sz="1100" b="0" i="1">
                <a:solidFill>
                  <a:srgbClr val="1A1A1A"/>
                </a:solidFill>
                <a:latin typeface="Calibri"/>
              </a:rPr>
              <a:t>Le projet ChatPDF-RAG répond à ces enjeux en proposant un pipeline 100 % local, instrumenté pour mesurer la qualité des réponses générées sur un corpus PDF arbitraire.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13248" y="1874520"/>
            <a:ext cx="4864608" cy="411480"/>
          </a:xfrm>
          <a:prstGeom prst="rect">
            <a:avLst/>
          </a:prstGeom>
          <a:solidFill>
            <a:srgbClr val="E8ECEF"/>
          </a:solidFill>
          <a:ln w="9525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13248" y="1874520"/>
            <a:ext cx="4864608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Calibri"/>
              </a:rPr>
              <a:t>Définitions et Concepts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13248" y="2286000"/>
            <a:ext cx="4864608" cy="3154680"/>
          </a:xfrm>
          <a:prstGeom prst="rect">
            <a:avLst/>
          </a:prstGeom>
          <a:noFill/>
          <a:ln w="9525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58968" y="2331720"/>
            <a:ext cx="4773168" cy="30632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6E4F"/>
                </a:solidFill>
                <a:latin typeface="Calibri"/>
              </a:rPr>
              <a:t>RAG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 : Retrieval-Augmented Generation. Injection dans le prompt d'extraits documentaires récupérés par similarité [1].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6E4F"/>
                </a:solidFill>
                <a:latin typeface="Calibri"/>
              </a:rPr>
              <a:t>Embeddings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 : représentations vectorielles denses du texte (Sentence-BERT, Reimers &amp; Gurevych 2019 [2]).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6E4F"/>
                </a:solidFill>
                <a:latin typeface="Calibri"/>
              </a:rPr>
              <a:t>FAISS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 : librairie de recherche vectorielle ANN développée par Meta (Johnson et al., 2019 [3]).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6E4F"/>
                </a:solidFill>
                <a:latin typeface="Calibri"/>
              </a:rPr>
              <a:t>Chunking parent/enfant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 : stratégie « small-to-big » — recherche sur petits chunks, génération sur leurs parents plus larges.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6E4F"/>
                </a:solidFill>
                <a:latin typeface="Calibri"/>
              </a:rPr>
              <a:t>VLM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 : Vision-Language Model. Décrit schémas et figures pour rendre les éléments graphiques interrogeables.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6E4F"/>
                </a:solidFill>
                <a:latin typeface="Calibri"/>
              </a:rPr>
              <a:t>Ollama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 : serveur d'inférence local exposant LLM et VLM open-source via une API HTTP (port 11434).</a:t>
            </a:r>
          </a:p>
          <a:p>
            <a:pPr algn="l"/>
            <a:r>
              <a:rPr sz="1100" b="1" i="0">
                <a:solidFill>
                  <a:srgbClr val="0B6E4F"/>
                </a:solidFill>
                <a:latin typeface="Calibri"/>
              </a:rPr>
              <a:t>ROUGE / similarité cosinus</a:t>
            </a:r>
            <a:r>
              <a:rPr sz="1050" b="0" i="0">
                <a:solidFill>
                  <a:srgbClr val="1A1A1A"/>
                </a:solidFill>
                <a:latin typeface="Calibri"/>
              </a:rPr>
              <a:t> : métriques d'évaluation automatique — recouvrement n-gramme (Lin, 2004 [4]) et proximité sémantique d'embeddings.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577840"/>
            <a:ext cx="9866376" cy="411480"/>
          </a:xfrm>
          <a:prstGeom prst="rect">
            <a:avLst/>
          </a:prstGeom>
          <a:solidFill>
            <a:srgbClr val="E8ECEF"/>
          </a:solidFill>
          <a:ln w="9525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5577840"/>
            <a:ext cx="9866376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Calibri"/>
              </a:rPr>
              <a:t>Méthodes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989320"/>
            <a:ext cx="3197352" cy="3886200"/>
          </a:xfrm>
          <a:prstGeom prst="rect">
            <a:avLst/>
          </a:prstGeom>
          <a:noFill/>
          <a:ln w="9525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3105912" cy="37947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1. Pipeline RAG textuel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Chaque PDF est segmenté en deux niveaux par RecursiveCharacterTextSplitter :</a:t>
            </a:r>
          </a:p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• Parent = 800 car. (contexte LLM)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Enfant = 150 car. (granularité de recherche)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Embeddings all-MiniLM-L6-v2 (384 dim.) normalisés, indexés dans FAISS [3].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À la requête : top-k enfants → remontée aux parents (small-to-big) → prompt RAG → Ollama (llama3.2, mistral, phi4…).</a:t>
            </a:r>
          </a:p>
          <a:p>
            <a:pPr algn="l"/>
            <a:r>
              <a:rPr sz="1050" b="0" i="1">
                <a:solidFill>
                  <a:srgbClr val="1A1A1A"/>
                </a:solidFill>
                <a:latin typeface="Calibri"/>
              </a:rPr>
              <a:t>Historique conversationnel : les 3 derniers tours sont concaténés au prompt pour le suivi contextuel.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5992" y="5989320"/>
            <a:ext cx="3197352" cy="3886200"/>
          </a:xfrm>
          <a:prstGeom prst="rect">
            <a:avLst/>
          </a:prstGeom>
          <a:noFill/>
          <a:ln w="9525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91712" y="6035040"/>
            <a:ext cx="3105912" cy="37947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2. Analyse multimodale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Les PDF techniques contiennent schémas et figures peu exploités par les RAG textuels.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Heuristique PyMuPDF : détection des pages candidates contenant images bitmap ou dessins vectoriels.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Seules ces pages sont rendues et envoyées au VLM (llama3.2-vision, llava, minicpm-v…) pour produire une description structurée [5].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Le texte généré est indexé dans le même FAISS, avec métadonnée content_type=image — la provenance reste traçable dans la réponse.</a:t>
            </a:r>
          </a:p>
          <a:p>
            <a:pPr algn="l"/>
            <a:r>
              <a:rPr sz="1050" b="0" i="1">
                <a:solidFill>
                  <a:srgbClr val="1A1A1A"/>
                </a:solidFill>
                <a:latin typeface="Calibri"/>
              </a:rPr>
              <a:t>Cette stratégie sélective réduit le coût d'inférence vision face à un balayage exhaustif.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0504" y="5989320"/>
            <a:ext cx="3197352" cy="3886200"/>
          </a:xfrm>
          <a:prstGeom prst="rect">
            <a:avLst/>
          </a:prstGeom>
          <a:noFill/>
          <a:ln w="9525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26224" y="6035040"/>
            <a:ext cx="3105912" cy="37947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B6E4F"/>
                </a:solidFill>
                <a:latin typeface="Calibri"/>
              </a:rPr>
              <a:t>3. Évaluation automatique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Jeu de test annoté manuellement (test.json) sur le document de référence electricite.pdf : N questions et réponses attendues.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Chaque question est rejouée n fois (n ∈ [1,10]) pour capturer la stochasticité du LLM.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A1A1A"/>
                </a:solidFill>
                <a:latin typeface="Calibri"/>
              </a:rPr>
              <a:t>Métriques calculées par run :</a:t>
            </a:r>
          </a:p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• ROUGE-1 / ROUGE-2 / ROUGE-L [4]</a:t>
            </a:r>
          </a:p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• Similarité cosinus (MiniLM)</a:t>
            </a:r>
          </a:p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• Temps de réponse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• Taux de refus (« cannot find »)</a:t>
            </a:r>
          </a:p>
          <a:p>
            <a:pPr algn="l"/>
            <a:r>
              <a:rPr sz="1050" b="0" i="1">
                <a:solidFill>
                  <a:srgbClr val="1A1A1A"/>
                </a:solidFill>
                <a:latin typeface="Calibri"/>
              </a:rPr>
              <a:t>Agrégation : moyenne et écart-type — l'écart-type quantifie la stabilité du modèle face à la même question.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10012680"/>
            <a:ext cx="4864608" cy="411480"/>
          </a:xfrm>
          <a:prstGeom prst="rect">
            <a:avLst/>
          </a:prstGeom>
          <a:solidFill>
            <a:srgbClr val="E8ECEF"/>
          </a:solidFill>
          <a:ln w="9525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10012680"/>
            <a:ext cx="4864608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Calibri"/>
              </a:rPr>
              <a:t>Résultats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10424160"/>
            <a:ext cx="4864608" cy="3520440"/>
          </a:xfrm>
          <a:prstGeom prst="rect">
            <a:avLst/>
          </a:prstGeom>
          <a:noFill/>
          <a:ln w="9525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10469880"/>
            <a:ext cx="4773168" cy="34290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 dirty="0" err="1">
                <a:solidFill>
                  <a:srgbClr val="1A1A1A"/>
                </a:solidFill>
                <a:latin typeface="Calibri"/>
              </a:rPr>
              <a:t>Comparaison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modèles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locaux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Ollama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sur le corpus electricite.pdf — n = 3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répétitions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par question.</a:t>
            </a:r>
          </a:p>
          <a:p>
            <a:pPr algn="l">
              <a:spcAft>
                <a:spcPts val="300"/>
              </a:spcAft>
            </a:pPr>
            <a:r>
              <a:rPr sz="1200" b="1" i="0" dirty="0">
                <a:solidFill>
                  <a:srgbClr val="1A1A1A"/>
                </a:solidFill>
                <a:latin typeface="Calibri"/>
              </a:rPr>
              <a:t>Tendances </a:t>
            </a:r>
            <a:r>
              <a:rPr sz="1200" b="1" i="0" dirty="0" err="1">
                <a:solidFill>
                  <a:srgbClr val="1A1A1A"/>
                </a:solidFill>
                <a:latin typeface="Calibri"/>
              </a:rPr>
              <a:t>observées</a:t>
            </a:r>
            <a:r>
              <a:rPr sz="1200" b="1" i="0" dirty="0">
                <a:solidFill>
                  <a:srgbClr val="1A1A1A"/>
                </a:solidFill>
                <a:latin typeface="Calibri"/>
              </a:rPr>
              <a:t> :</a:t>
            </a:r>
          </a:p>
          <a:p>
            <a:pPr algn="l"/>
            <a:r>
              <a:rPr sz="1100" b="0" i="0" dirty="0">
                <a:solidFill>
                  <a:srgbClr val="1A1A1A"/>
                </a:solidFill>
                <a:latin typeface="Calibri"/>
              </a:rPr>
              <a:t>• llama3.2 (3B) —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meilleur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équilibre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vitesse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/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qualité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, ROUGE-1 ≈ 0,35,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similarité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≈ 0,78.</a:t>
            </a:r>
          </a:p>
          <a:p>
            <a:pPr algn="l"/>
            <a:r>
              <a:rPr sz="1100" b="0" i="0" dirty="0">
                <a:solidFill>
                  <a:srgbClr val="1A1A1A"/>
                </a:solidFill>
                <a:latin typeface="Calibri"/>
              </a:rPr>
              <a:t>• mistral (7B) —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meilleure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formulation,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latence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× 2.</a:t>
            </a:r>
          </a:p>
          <a:p>
            <a:pPr algn="l"/>
            <a:r>
              <a:rPr sz="1100" b="0" i="0" dirty="0">
                <a:solidFill>
                  <a:srgbClr val="1A1A1A"/>
                </a:solidFill>
                <a:latin typeface="Calibri"/>
              </a:rPr>
              <a:t>• phi4 (14B) —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précision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supérieure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mais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&gt; 25 s/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requête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sur CPU.</a:t>
            </a:r>
          </a:p>
          <a:p>
            <a:pPr algn="l">
              <a:spcAft>
                <a:spcPts val="600"/>
              </a:spcAft>
            </a:pPr>
            <a:r>
              <a:rPr sz="1100" b="0" i="0" dirty="0">
                <a:solidFill>
                  <a:srgbClr val="1A1A1A"/>
                </a:solidFill>
                <a:latin typeface="Calibri"/>
              </a:rPr>
              <a:t>• gemma3 —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taux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refus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plus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élevé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sur questions hors-corpus.</a:t>
            </a:r>
          </a:p>
          <a:p>
            <a:pPr algn="l">
              <a:spcAft>
                <a:spcPts val="300"/>
              </a:spcAft>
            </a:pPr>
            <a:r>
              <a:rPr sz="1200" b="1" i="0" dirty="0" err="1">
                <a:solidFill>
                  <a:srgbClr val="1A1A1A"/>
                </a:solidFill>
                <a:latin typeface="Calibri"/>
              </a:rPr>
              <a:t>Effet</a:t>
            </a:r>
            <a:r>
              <a:rPr sz="1200" b="1" i="0" dirty="0">
                <a:solidFill>
                  <a:srgbClr val="1A1A1A"/>
                </a:solidFill>
                <a:latin typeface="Calibri"/>
              </a:rPr>
              <a:t> du chunking parent/enfant :</a:t>
            </a:r>
          </a:p>
          <a:p>
            <a:pPr algn="l">
              <a:spcAft>
                <a:spcPts val="600"/>
              </a:spcAft>
            </a:pPr>
            <a:r>
              <a:rPr sz="1100" b="0" i="0" dirty="0">
                <a:solidFill>
                  <a:srgbClr val="1A1A1A"/>
                </a:solidFill>
                <a:latin typeface="Calibri"/>
              </a:rPr>
              <a:t>La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stratégie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small-to-big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améliore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la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similarité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moyenne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de +0,08 à +0,12 par rapport à un chunking simple de 800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caractères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conservant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un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contexte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de prompt exploitable par le LLM.</a:t>
            </a:r>
          </a:p>
          <a:p>
            <a:pPr algn="l">
              <a:spcAft>
                <a:spcPts val="300"/>
              </a:spcAft>
            </a:pPr>
            <a:r>
              <a:rPr sz="1200" b="1" i="0" dirty="0" err="1">
                <a:solidFill>
                  <a:srgbClr val="1A1A1A"/>
                </a:solidFill>
                <a:latin typeface="Calibri"/>
              </a:rPr>
              <a:t>Effet</a:t>
            </a:r>
            <a:r>
              <a:rPr sz="1200" b="1" i="0" dirty="0">
                <a:solidFill>
                  <a:srgbClr val="1A1A1A"/>
                </a:solidFill>
                <a:latin typeface="Calibri"/>
              </a:rPr>
              <a:t> de </a:t>
            </a:r>
            <a:r>
              <a:rPr sz="1200" b="1" i="0" dirty="0" err="1">
                <a:solidFill>
                  <a:srgbClr val="1A1A1A"/>
                </a:solidFill>
                <a:latin typeface="Calibri"/>
              </a:rPr>
              <a:t>l'analyse</a:t>
            </a:r>
            <a:r>
              <a:rPr sz="1200" b="1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A1A1A"/>
                </a:solidFill>
                <a:latin typeface="Calibri"/>
              </a:rPr>
              <a:t>multimodale</a:t>
            </a:r>
            <a:r>
              <a:rPr sz="1200" b="1" i="0" dirty="0">
                <a:solidFill>
                  <a:srgbClr val="1A1A1A"/>
                </a:solidFill>
                <a:latin typeface="Calibri"/>
              </a:rPr>
              <a:t> :</a:t>
            </a:r>
          </a:p>
          <a:p>
            <a:pPr algn="l">
              <a:spcAft>
                <a:spcPts val="600"/>
              </a:spcAft>
            </a:pPr>
            <a:r>
              <a:rPr sz="1100" b="0" i="0" dirty="0">
                <a:solidFill>
                  <a:srgbClr val="1A1A1A"/>
                </a:solidFill>
                <a:latin typeface="Calibri"/>
              </a:rPr>
              <a:t>Sur les questions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portant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sur des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schémas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électriques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l'activation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du VLM fait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chuter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le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taux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refus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de ~60 % à &lt;15 %, au prix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d'une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indexation </a:t>
            </a:r>
            <a:r>
              <a:rPr sz="1100" b="0" i="0" dirty="0" err="1">
                <a:solidFill>
                  <a:srgbClr val="1A1A1A"/>
                </a:solidFill>
                <a:latin typeface="Calibri"/>
              </a:rPr>
              <a:t>initiale</a:t>
            </a:r>
            <a:r>
              <a:rPr sz="1100" b="0" i="0" dirty="0">
                <a:solidFill>
                  <a:srgbClr val="1A1A1A"/>
                </a:solidFill>
                <a:latin typeface="Calibri"/>
              </a:rPr>
              <a:t> 5 à 10× plus longue.</a:t>
            </a:r>
          </a:p>
          <a:p>
            <a:pPr algn="l"/>
            <a:r>
              <a:rPr sz="1100" b="0" i="1" dirty="0" err="1">
                <a:solidFill>
                  <a:srgbClr val="1A1A1A"/>
                </a:solidFill>
                <a:latin typeface="Calibri"/>
              </a:rPr>
              <a:t>Stabilité</a:t>
            </a:r>
            <a:r>
              <a:rPr sz="1100" b="0" i="1" dirty="0">
                <a:solidFill>
                  <a:srgbClr val="1A1A1A"/>
                </a:solidFill>
                <a:latin typeface="Calibri"/>
              </a:rPr>
              <a:t> : </a:t>
            </a:r>
            <a:r>
              <a:rPr sz="1100" b="0" i="1" dirty="0" err="1">
                <a:solidFill>
                  <a:srgbClr val="1A1A1A"/>
                </a:solidFill>
                <a:latin typeface="Calibri"/>
              </a:rPr>
              <a:t>l'écart</a:t>
            </a:r>
            <a:r>
              <a:rPr sz="1100" b="0" i="1" dirty="0">
                <a:solidFill>
                  <a:srgbClr val="1A1A1A"/>
                </a:solidFill>
                <a:latin typeface="Calibri"/>
              </a:rPr>
              <a:t>-type de </a:t>
            </a:r>
            <a:r>
              <a:rPr sz="1100" b="0" i="1" dirty="0" err="1">
                <a:solidFill>
                  <a:srgbClr val="1A1A1A"/>
                </a:solidFill>
                <a:latin typeface="Calibri"/>
              </a:rPr>
              <a:t>similarité</a:t>
            </a:r>
            <a:r>
              <a:rPr sz="1100" b="0" i="1" dirty="0">
                <a:solidFill>
                  <a:srgbClr val="1A1A1A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1A1A1A"/>
                </a:solidFill>
                <a:latin typeface="Calibri"/>
              </a:rPr>
              <a:t>reste</a:t>
            </a:r>
            <a:r>
              <a:rPr sz="1100" b="0" i="1" dirty="0">
                <a:solidFill>
                  <a:srgbClr val="1A1A1A"/>
                </a:solidFill>
                <a:latin typeface="Calibri"/>
              </a:rPr>
              <a:t> &lt; 0,05 sur la </a:t>
            </a:r>
            <a:r>
              <a:rPr sz="1100" b="0" i="1" dirty="0" err="1">
                <a:solidFill>
                  <a:srgbClr val="1A1A1A"/>
                </a:solidFill>
                <a:latin typeface="Calibri"/>
              </a:rPr>
              <a:t>plupart</a:t>
            </a:r>
            <a:r>
              <a:rPr sz="1100" b="0" i="1" dirty="0">
                <a:solidFill>
                  <a:srgbClr val="1A1A1A"/>
                </a:solidFill>
                <a:latin typeface="Calibri"/>
              </a:rPr>
              <a:t> des questions — le pipeline est reproductible malgré la </a:t>
            </a:r>
            <a:r>
              <a:rPr sz="1100" b="0" i="1" dirty="0" err="1">
                <a:solidFill>
                  <a:srgbClr val="1A1A1A"/>
                </a:solidFill>
                <a:latin typeface="Calibri"/>
              </a:rPr>
              <a:t>température</a:t>
            </a:r>
            <a:r>
              <a:rPr sz="1100" b="0" i="1" dirty="0">
                <a:solidFill>
                  <a:srgbClr val="1A1A1A"/>
                </a:solidFill>
                <a:latin typeface="Calibri"/>
              </a:rPr>
              <a:t> non </a:t>
            </a:r>
            <a:r>
              <a:rPr sz="1100" b="0" i="1" dirty="0" err="1">
                <a:solidFill>
                  <a:srgbClr val="1A1A1A"/>
                </a:solidFill>
                <a:latin typeface="Calibri"/>
              </a:rPr>
              <a:t>nulle</a:t>
            </a:r>
            <a:r>
              <a:rPr sz="1100" b="0" i="1" dirty="0">
                <a:solidFill>
                  <a:srgbClr val="1A1A1A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1A1A1A"/>
                </a:solidFill>
                <a:latin typeface="Calibri"/>
              </a:rPr>
              <a:t>d'Ollama</a:t>
            </a:r>
            <a:r>
              <a:rPr sz="1100" b="0" i="1" dirty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13248" y="10012680"/>
            <a:ext cx="4864608" cy="411480"/>
          </a:xfrm>
          <a:prstGeom prst="rect">
            <a:avLst/>
          </a:prstGeom>
          <a:solidFill>
            <a:srgbClr val="E8ECEF"/>
          </a:solidFill>
          <a:ln w="9525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13248" y="10012680"/>
            <a:ext cx="4864608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i="0">
                <a:solidFill>
                  <a:srgbClr val="1A1A1A"/>
                </a:solidFill>
                <a:latin typeface="Calibri"/>
              </a:rPr>
              <a:t>Conclusions et Perspectives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13248" y="10424160"/>
            <a:ext cx="4864608" cy="3520440"/>
          </a:xfrm>
          <a:prstGeom prst="rect">
            <a:avLst/>
          </a:prstGeom>
          <a:noFill/>
          <a:ln w="9525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58968" y="10469880"/>
            <a:ext cx="4773168" cy="34290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Un pipeline RAG 100 % local, combinant chunking hiérarchique, FAISS et VLM optionnel, atteint un niveau de qualité utilisable sur des PDF techniques tout en préservant la confidentialité des documents.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L'instrumentation d'évaluation (ROUGE + cosinus + n répétitions) permet de comparer objectivement les modèles Ollama et d'arbitrer le compromis qualité / latence selon le matériel cible.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B6E4F"/>
                </a:solidFill>
                <a:latin typeface="Calibri"/>
              </a:rPr>
              <a:t>Perspectives :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Reranking croisé (cross-encoder) avant injection au LLM pour réduire le bruit du top-k.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Hybridation BM25 + dense pour les requêtes lexicales strictes.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GraphRAG (Edge et al., 2024 [6]) — indexation par graphe d'entités pour les questions globales.</a:t>
            </a:r>
          </a:p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• Quantification GGUF des VLM pour rendre la pipeline vision viable sur GPU grand public.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Élargissement du jeu d'évaluation à des PDF multi-domaines (juridique, médical, scientifique).</a:t>
            </a:r>
          </a:p>
          <a:p>
            <a:pPr algn="l"/>
            <a:r>
              <a:rPr sz="1100" b="0" i="1">
                <a:solidFill>
                  <a:srgbClr val="1A1A1A"/>
                </a:solidFill>
                <a:latin typeface="Calibri"/>
              </a:rPr>
              <a:t>Au-delà des métriques automatiques, une évaluation humaine (Likert-scale, A/B blind tests) reste indispensable pour caractériser la pertinence perçue des réponses.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14081760"/>
            <a:ext cx="9866376" cy="365760"/>
          </a:xfrm>
          <a:prstGeom prst="rect">
            <a:avLst/>
          </a:prstGeom>
          <a:solidFill>
            <a:srgbClr val="E8ECEF"/>
          </a:solidFill>
          <a:ln w="9525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14081760"/>
            <a:ext cx="9866376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Références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14447520"/>
            <a:ext cx="9866376" cy="310896"/>
          </a:xfrm>
          <a:prstGeom prst="rect">
            <a:avLst/>
          </a:prstGeom>
          <a:noFill/>
          <a:ln w="9525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14493240"/>
            <a:ext cx="9683496" cy="95615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0" dirty="0">
                <a:solidFill>
                  <a:srgbClr val="1A1A1A"/>
                </a:solidFill>
                <a:latin typeface="Calibri"/>
              </a:rPr>
              <a:t>[1] Lewi</a:t>
            </a:r>
            <a:r>
              <a:rPr lang="fr-FR" sz="900" b="0" i="0" dirty="0">
                <a:solidFill>
                  <a:srgbClr val="1A1A1A"/>
                </a:solidFill>
                <a:latin typeface="Calibri"/>
              </a:rPr>
              <a:t>d</a:t>
            </a:r>
            <a:r>
              <a:rPr sz="900" b="0" i="0" dirty="0">
                <a:solidFill>
                  <a:srgbClr val="1A1A1A"/>
                </a:solidFill>
                <a:latin typeface="Calibri"/>
              </a:rPr>
              <a:t>s, P. et al. (2020). Retrieval-Augmented Generation for Knowledge-Intensive NLP Tasks. </a:t>
            </a:r>
            <a:r>
              <a:rPr sz="900" b="0" i="0" dirty="0" err="1">
                <a:solidFill>
                  <a:srgbClr val="1A1A1A"/>
                </a:solidFill>
                <a:latin typeface="Calibri"/>
              </a:rPr>
              <a:t>NeurIPS</a:t>
            </a:r>
            <a:r>
              <a:rPr sz="900" b="0" i="0" dirty="0">
                <a:solidFill>
                  <a:srgbClr val="1A1A1A"/>
                </a:solidFill>
                <a:latin typeface="Calibri"/>
              </a:rPr>
              <a:t>.</a:t>
            </a:r>
            <a:r>
              <a:rPr lang="fr-FR" sz="9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1A1A1A"/>
                </a:solidFill>
                <a:latin typeface="Calibri"/>
              </a:rPr>
              <a:t>[2] Reimers, N. &amp; </a:t>
            </a:r>
            <a:r>
              <a:rPr sz="900" b="0" i="0" dirty="0" err="1">
                <a:solidFill>
                  <a:srgbClr val="1A1A1A"/>
                </a:solidFill>
                <a:latin typeface="Calibri"/>
              </a:rPr>
              <a:t>Gurevych</a:t>
            </a:r>
            <a:r>
              <a:rPr sz="900" b="0" i="0" dirty="0">
                <a:solidFill>
                  <a:srgbClr val="1A1A1A"/>
                </a:solidFill>
                <a:latin typeface="Calibri"/>
              </a:rPr>
              <a:t>, I. (2019). Sentence-BERT: Sentence Embeddings using Siamese BERT-Networks. EMNLP.</a:t>
            </a:r>
            <a:r>
              <a:rPr lang="fr-FR" sz="900" b="0" i="0" dirty="0">
                <a:solidFill>
                  <a:srgbClr val="1A1A1A"/>
                </a:solidFill>
                <a:latin typeface="Calibri"/>
              </a:rPr>
              <a:t> [</a:t>
            </a:r>
            <a:r>
              <a:rPr sz="900" b="0" i="0" dirty="0">
                <a:solidFill>
                  <a:srgbClr val="1A1A1A"/>
                </a:solidFill>
                <a:latin typeface="Calibri"/>
              </a:rPr>
              <a:t>3] Johnson, J., </a:t>
            </a:r>
            <a:r>
              <a:rPr sz="900" b="0" i="0" dirty="0" err="1">
                <a:solidFill>
                  <a:srgbClr val="1A1A1A"/>
                </a:solidFill>
                <a:latin typeface="Calibri"/>
              </a:rPr>
              <a:t>Douze</a:t>
            </a:r>
            <a:r>
              <a:rPr sz="900" b="0" i="0" dirty="0">
                <a:solidFill>
                  <a:srgbClr val="1A1A1A"/>
                </a:solidFill>
                <a:latin typeface="Calibri"/>
              </a:rPr>
              <a:t>, M. &amp; Jégou, H. (2019). Billion-scale similarity search with GPUs. IEEE Transactions on Big Data.</a:t>
            </a:r>
          </a:p>
          <a:p>
            <a:pPr algn="l">
              <a:spcAft>
                <a:spcPts val="100"/>
              </a:spcAft>
            </a:pPr>
            <a:r>
              <a:rPr sz="900" b="0" i="0" dirty="0">
                <a:solidFill>
                  <a:srgbClr val="1A1A1A"/>
                </a:solidFill>
                <a:latin typeface="Calibri"/>
              </a:rPr>
              <a:t>[4] Lin, C.-Y. (2004). ROUGE: A Package for Automatic Evaluation of Summaries. ACL Workshop.</a:t>
            </a:r>
          </a:p>
          <a:p>
            <a:pPr algn="l">
              <a:spcAft>
                <a:spcPts val="100"/>
              </a:spcAft>
            </a:pPr>
            <a:r>
              <a:rPr sz="900" b="0" i="0" dirty="0">
                <a:solidFill>
                  <a:srgbClr val="1A1A1A"/>
                </a:solidFill>
                <a:latin typeface="Calibri"/>
              </a:rPr>
              <a:t>[5] Liu, H., Li, C., Wu, Q. &amp; Lee, Y. J. (2023). Visual Instruction Tuning (</a:t>
            </a:r>
            <a:r>
              <a:rPr sz="900" b="0" i="0" dirty="0" err="1">
                <a:solidFill>
                  <a:srgbClr val="1A1A1A"/>
                </a:solidFill>
                <a:latin typeface="Calibri"/>
              </a:rPr>
              <a:t>LLaVA</a:t>
            </a:r>
            <a:r>
              <a:rPr sz="900" b="0" i="0" dirty="0">
                <a:solidFill>
                  <a:srgbClr val="1A1A1A"/>
                </a:solidFill>
                <a:latin typeface="Calibri"/>
              </a:rPr>
              <a:t>). </a:t>
            </a:r>
            <a:r>
              <a:rPr sz="900" b="0" i="0" dirty="0" err="1">
                <a:solidFill>
                  <a:srgbClr val="1A1A1A"/>
                </a:solidFill>
                <a:latin typeface="Calibri"/>
              </a:rPr>
              <a:t>NeurIPS</a:t>
            </a:r>
            <a:r>
              <a:rPr sz="900" b="0" i="0" dirty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>
              <a:spcAft>
                <a:spcPts val="100"/>
              </a:spcAft>
            </a:pPr>
            <a:r>
              <a:rPr sz="900" b="0" i="0" dirty="0">
                <a:solidFill>
                  <a:srgbClr val="1A1A1A"/>
                </a:solidFill>
                <a:latin typeface="Calibri"/>
              </a:rPr>
              <a:t>[6] Edge, D. et al. (2024). From Local to Global: A Graph RAG Approach to Query-Focused Summarization. Microsoft Research, arXiv:2404.16130.</a:t>
            </a:r>
          </a:p>
          <a:p>
            <a:pPr algn="l"/>
            <a:r>
              <a:rPr sz="900" b="0" i="0" dirty="0">
                <a:solidFill>
                  <a:srgbClr val="1A1A1A"/>
                </a:solidFill>
                <a:latin typeface="Calibri"/>
              </a:rPr>
              <a:t>[7] Gao, Y. et al. (2024). Retrieval-Augmented Generation for Large Language Models: A Survey. arXiv:2312.10997.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1155</Words>
  <Application>Microsoft Office PowerPoint</Application>
  <PresentationFormat>Personnalisé</PresentationFormat>
  <Paragraphs>73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Arthur Knipe</cp:lastModifiedBy>
  <cp:revision>2</cp:revision>
  <dcterms:created xsi:type="dcterms:W3CDTF">2013-01-27T09:14:16Z</dcterms:created>
  <dcterms:modified xsi:type="dcterms:W3CDTF">2026-05-26T09:45:29Z</dcterms:modified>
  <cp:category/>
</cp:coreProperties>
</file>